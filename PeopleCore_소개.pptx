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5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17F97-D470-1CD6-B65A-2502F36FA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658FBC-888C-9413-13E9-E15FA2244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66A7AB-3E99-D4EB-2CE2-B86159BE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63A29F-B33F-3353-88C4-411B3897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5F4D3-F208-85AA-3DA9-FEB6081E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47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2DF41-C48D-3CB7-17EC-6B3B0FBE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454EB-1BB4-14AB-D000-EA0EB6ABB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37EC92-BF6B-A4EF-9012-26CFD5FEF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22993-555F-EE04-72DB-A66BBD99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4F5C73-D599-839E-63D5-4FF4F01C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98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5AFCC-B99C-ECCF-F10D-2423BF562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A91B45-5B41-3945-872A-5F4D68AAF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4A4FC7-E136-BC20-1C17-9E2A06B5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A2C496-85ED-FF37-9594-2915E3F2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5062F7-B8F6-557E-51A3-4890EFE7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52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9C35C-20C1-4AF4-CBE2-4DBAC417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4AAC90-CA8A-0C9B-A972-CC63A32FD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C45BA7-F723-3D7F-1383-61B3E00C2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4B576-E5B3-68D7-8F87-06D339A8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0CB008-4284-7EA6-90C2-D30B3C178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80671A-DE41-3705-27FE-B117CBCB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81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16832-561A-7697-ED92-27B4DEB9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1C4367-EF2A-B06B-50F1-15C84933A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76A71A-2154-F6E4-8821-DD4697FB7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B3ED2D-7CF1-B0D3-BA0F-993463A22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53DFDC-5B08-31E6-F623-904034D7E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2948B3-58D0-3547-B1FE-83D077EA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630C7A-08E3-38DE-86A8-3A7C7F38A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1D207A-35DD-4C58-AED5-38DDE73B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05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D65A0-944C-6CC7-9A4D-16754144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D09DB0-58AA-D734-058B-C5ACF374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A6E283-FB04-F201-D945-1BCC2003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49335A-0769-8749-F1E7-19E22A95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26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61EFD5-F73D-BF06-8573-B65EA0BE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135E0C-5245-FD51-6002-CB3B876D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DB00D-5822-4156-F8D8-A2AB70AB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82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F47F1-904F-92C6-4250-5DBDD4BE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FA3F4A-5F35-171F-A5DA-3FCA78DA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E468CF-A007-304E-7E18-7B2617B91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BDDF4E-B38D-5256-2FC0-87D69CD3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1273B3-3A76-6F10-EEB8-F1ECAA6F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1164CE-C0FB-06CB-03B8-A024CE03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62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ED2C1-D53E-FFEB-DAC8-C5194869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84B9FC-D74A-1A08-969C-8E77C6A86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5C63AC-5F32-6CD9-262A-FCC3B7C38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D359FE-EA42-293D-F5F2-C599B620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16FA9F-0911-4DC6-1A1C-123EBF518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1CF5F9-C873-406F-ECF7-988BA06B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48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2742E-E9EA-9F06-8693-047590B0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D9B9C2-6401-2749-3FE2-4402045A1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A557F-197E-BCEE-08DC-C7AA69A94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F6392-BAFC-AC7C-43A1-45E74E26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854153-65F8-B71B-5D2C-167BF0C4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61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7F5323-B268-0739-325D-B6C7A5B99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F88A10-70F5-7846-778E-C6AC5228C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056FE-19A8-9A81-ADEF-9AFDBBAA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4EA9CF-0708-CFEA-2A13-23B8E1016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965FCE-413A-F0B6-CDEA-9A86B47B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837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5507B6-8650-8394-C72C-176010E7A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0E48F-D811-2EFA-C26B-B02F4D06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AE1907-EDCA-E14A-970B-17F6FD8BE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E2FED-024F-46E3-8212-CE434F8270A0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83EA5-BCC9-84F3-E604-5AFE0E201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59376-FFCC-2238-B537-31612AAE4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6B2AB-60E6-41D9-89F3-FC2E896C18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09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2CC405-A689-D8D8-5443-14799AB14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E2D3C6-CA22-F897-F271-620A48932446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81F90-26B3-F562-D457-820C51916A8F}"/>
              </a:ext>
            </a:extLst>
          </p:cNvPr>
          <p:cNvSpPr txBox="1"/>
          <p:nvPr/>
        </p:nvSpPr>
        <p:spPr>
          <a:xfrm>
            <a:off x="762000" y="482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1D9E75"/>
                </a:solidFill>
                <a:latin typeface="맑은 고딕" panose="020B0503020000020004" pitchFamily="50" charset="-127"/>
              </a:rPr>
              <a:t>PROBLEM</a:t>
            </a:r>
            <a:endParaRPr lang="ko-KR" altLang="en-US" sz="9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3F47B-71EF-1F7A-D04E-96A67281DB53}"/>
              </a:ext>
            </a:extLst>
          </p:cNvPr>
          <p:cNvSpPr txBox="1"/>
          <p:nvPr/>
        </p:nvSpPr>
        <p:spPr>
          <a:xfrm>
            <a:off x="762000" y="76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왜 지금의 </a:t>
            </a:r>
            <a:r>
              <a:rPr lang="en-US" altLang="ko-KR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시스템은 불편할까요</a:t>
            </a:r>
            <a:r>
              <a:rPr lang="en-US" altLang="ko-KR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?</a:t>
            </a:r>
            <a:endParaRPr lang="ko-KR" altLang="en-US" sz="2800" b="1">
              <a:solidFill>
                <a:srgbClr val="11111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702F7-2D4B-5762-4F48-D03C1F0C2135}"/>
              </a:ext>
            </a:extLst>
          </p:cNvPr>
          <p:cNvSpPr txBox="1"/>
          <p:nvPr/>
        </p:nvSpPr>
        <p:spPr>
          <a:xfrm>
            <a:off x="762000" y="142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solidFill>
                  <a:srgbClr val="9AA49E"/>
                </a:solidFill>
                <a:latin typeface="맑은 고딕" panose="020B0503020000020004" pitchFamily="50" charset="-127"/>
              </a:rPr>
              <a:t>기존 </a:t>
            </a:r>
            <a:r>
              <a:rPr lang="en-US" altLang="ko-KR" sz="13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300">
                <a:solidFill>
                  <a:srgbClr val="9AA49E"/>
                </a:solidFill>
                <a:latin typeface="맑은 고딕" panose="020B0503020000020004" pitchFamily="50" charset="-127"/>
              </a:rPr>
              <a:t>솔루션이 가진 구조적 한계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0E9BF2-ED36-714C-86D7-C368BA17B34B}"/>
              </a:ext>
            </a:extLst>
          </p:cNvPr>
          <p:cNvSpPr/>
          <p:nvPr/>
        </p:nvSpPr>
        <p:spPr>
          <a:xfrm>
            <a:off x="762000" y="1879600"/>
            <a:ext cx="35814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DF83C3-D1C8-E313-C2AA-734C59519F25}"/>
              </a:ext>
            </a:extLst>
          </p:cNvPr>
          <p:cNvSpPr/>
          <p:nvPr/>
        </p:nvSpPr>
        <p:spPr>
          <a:xfrm>
            <a:off x="1016000" y="2133600"/>
            <a:ext cx="558800" cy="558800"/>
          </a:xfrm>
          <a:prstGeom prst="rect">
            <a:avLst/>
          </a:prstGeom>
          <a:solidFill>
            <a:srgbClr val="FE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90A70-3073-E12F-46AD-C83DAB150124}"/>
              </a:ext>
            </a:extLst>
          </p:cNvPr>
          <p:cNvSpPr txBox="1"/>
          <p:nvPr/>
        </p:nvSpPr>
        <p:spPr>
          <a:xfrm>
            <a:off x="914400" y="2844800"/>
            <a:ext cx="327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높은 도입 비용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ACF8C6-70EB-3DD2-2270-8D0F75C152EC}"/>
              </a:ext>
            </a:extLst>
          </p:cNvPr>
          <p:cNvSpPr txBox="1"/>
          <p:nvPr/>
        </p:nvSpPr>
        <p:spPr>
          <a:xfrm>
            <a:off x="914400" y="3251200"/>
            <a:ext cx="327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대형 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ERP 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솔루션은 도입 비용만 수억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~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수십억 원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세팅에 수개월이 소요됩니다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E891FB-7BA2-F3BA-8BCD-4087584F218E}"/>
              </a:ext>
            </a:extLst>
          </p:cNvPr>
          <p:cNvSpPr/>
          <p:nvPr/>
        </p:nvSpPr>
        <p:spPr>
          <a:xfrm>
            <a:off x="914400" y="4546600"/>
            <a:ext cx="3276600" cy="381000"/>
          </a:xfrm>
          <a:prstGeom prst="rect">
            <a:avLst/>
          </a:prstGeom>
          <a:solidFill>
            <a:srgbClr val="FFF5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70A37E-3A53-7588-B93C-B5DC9834E457}"/>
              </a:ext>
            </a:extLst>
          </p:cNvPr>
          <p:cNvSpPr txBox="1"/>
          <p:nvPr/>
        </p:nvSpPr>
        <p:spPr>
          <a:xfrm>
            <a:off x="914400" y="4546600"/>
            <a:ext cx="3276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⚠️ 중소기업은 도입 자체가 불가능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B6683-A803-1C77-8B79-C5ED88869727}"/>
              </a:ext>
            </a:extLst>
          </p:cNvPr>
          <p:cNvSpPr/>
          <p:nvPr/>
        </p:nvSpPr>
        <p:spPr>
          <a:xfrm>
            <a:off x="4597400" y="1879600"/>
            <a:ext cx="35814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C9174A-E621-3657-2BC0-322A5A27654C}"/>
              </a:ext>
            </a:extLst>
          </p:cNvPr>
          <p:cNvSpPr/>
          <p:nvPr/>
        </p:nvSpPr>
        <p:spPr>
          <a:xfrm>
            <a:off x="4851400" y="2133600"/>
            <a:ext cx="558800" cy="558800"/>
          </a:xfrm>
          <a:prstGeom prst="rect">
            <a:avLst/>
          </a:prstGeom>
          <a:solidFill>
            <a:srgbClr val="FE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031596-BD20-DDA1-2A47-DF2B52B2F38A}"/>
              </a:ext>
            </a:extLst>
          </p:cNvPr>
          <p:cNvSpPr txBox="1"/>
          <p:nvPr/>
        </p:nvSpPr>
        <p:spPr>
          <a:xfrm>
            <a:off x="4749800" y="2844800"/>
            <a:ext cx="327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엑셀</a:t>
            </a:r>
            <a:r>
              <a:rPr lang="en-US" altLang="ko-KR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수기 의존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A0B1A-7C63-01BE-8E54-F6DB61C35C75}"/>
              </a:ext>
            </a:extLst>
          </p:cNvPr>
          <p:cNvSpPr txBox="1"/>
          <p:nvPr/>
        </p:nvSpPr>
        <p:spPr>
          <a:xfrm>
            <a:off x="4749800" y="3251200"/>
            <a:ext cx="327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시스템이 없는 기업은 여전히 엑셀과 수기로 인사 데이터를 관리합니다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5516DF-CA7B-8774-F1DB-2E4ECE6E34A8}"/>
              </a:ext>
            </a:extLst>
          </p:cNvPr>
          <p:cNvSpPr/>
          <p:nvPr/>
        </p:nvSpPr>
        <p:spPr>
          <a:xfrm>
            <a:off x="4749800" y="4546600"/>
            <a:ext cx="3276600" cy="381000"/>
          </a:xfrm>
          <a:prstGeom prst="rect">
            <a:avLst/>
          </a:prstGeom>
          <a:solidFill>
            <a:srgbClr val="FFF5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D01952-D7B4-6606-094E-A2FA601E05A0}"/>
              </a:ext>
            </a:extLst>
          </p:cNvPr>
          <p:cNvSpPr txBox="1"/>
          <p:nvPr/>
        </p:nvSpPr>
        <p:spPr>
          <a:xfrm>
            <a:off x="4749800" y="4546600"/>
            <a:ext cx="3276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⚠️ 실수</a:t>
            </a:r>
            <a:r>
              <a:rPr lang="en-US" altLang="ko-KR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누락</a:t>
            </a:r>
            <a:r>
              <a:rPr lang="en-US" altLang="ko-KR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데이터 파편화 빈번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B725E2-2147-7F9C-916A-3555F0255A8E}"/>
              </a:ext>
            </a:extLst>
          </p:cNvPr>
          <p:cNvSpPr/>
          <p:nvPr/>
        </p:nvSpPr>
        <p:spPr>
          <a:xfrm>
            <a:off x="8432800" y="1879600"/>
            <a:ext cx="35814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54BAAE-3182-A63C-A599-061A68D418A4}"/>
              </a:ext>
            </a:extLst>
          </p:cNvPr>
          <p:cNvSpPr/>
          <p:nvPr/>
        </p:nvSpPr>
        <p:spPr>
          <a:xfrm>
            <a:off x="8686800" y="2133600"/>
            <a:ext cx="558800" cy="558800"/>
          </a:xfrm>
          <a:prstGeom prst="rect">
            <a:avLst/>
          </a:prstGeom>
          <a:solidFill>
            <a:srgbClr val="FE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4D931C-8797-9421-E76F-D6256093B7F2}"/>
              </a:ext>
            </a:extLst>
          </p:cNvPr>
          <p:cNvSpPr txBox="1"/>
          <p:nvPr/>
        </p:nvSpPr>
        <p:spPr>
          <a:xfrm>
            <a:off x="8585200" y="2844800"/>
            <a:ext cx="327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시스템 파편화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67B838-122B-93F9-C530-557C07FB06F2}"/>
              </a:ext>
            </a:extLst>
          </p:cNvPr>
          <p:cNvSpPr txBox="1"/>
          <p:nvPr/>
        </p:nvSpPr>
        <p:spPr>
          <a:xfrm>
            <a:off x="8585200" y="3251200"/>
            <a:ext cx="3276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근태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급여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성과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결재가 각각 다른 프로그램에 흩어져 연동이 되지 않습니다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BB3A4B5-E1D5-2F20-87C5-41C977AE7FED}"/>
              </a:ext>
            </a:extLst>
          </p:cNvPr>
          <p:cNvSpPr/>
          <p:nvPr/>
        </p:nvSpPr>
        <p:spPr>
          <a:xfrm>
            <a:off x="8585200" y="4546600"/>
            <a:ext cx="3276600" cy="381000"/>
          </a:xfrm>
          <a:prstGeom prst="rect">
            <a:avLst/>
          </a:prstGeom>
          <a:solidFill>
            <a:srgbClr val="FFF5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ECD90C-8742-FA9F-F2B4-25050F0DDDF9}"/>
              </a:ext>
            </a:extLst>
          </p:cNvPr>
          <p:cNvSpPr txBox="1"/>
          <p:nvPr/>
        </p:nvSpPr>
        <p:spPr>
          <a:xfrm>
            <a:off x="8585200" y="4546600"/>
            <a:ext cx="32766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⚠️ 데이터 불일치</a:t>
            </a:r>
            <a:r>
              <a:rPr lang="en-US" altLang="ko-KR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E05252"/>
                </a:solidFill>
                <a:latin typeface="맑은 고딕" panose="020B0503020000020004" pitchFamily="50" charset="-127"/>
              </a:rPr>
              <a:t>오류 반복 발생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CE7848-CA57-0B18-0045-48A3ED16D4DF}"/>
              </a:ext>
            </a:extLst>
          </p:cNvPr>
          <p:cNvSpPr txBox="1"/>
          <p:nvPr/>
        </p:nvSpPr>
        <p:spPr>
          <a:xfrm>
            <a:off x="10160000" y="6477000"/>
            <a:ext cx="184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200">
                <a:solidFill>
                  <a:srgbClr val="C8D0CC"/>
                </a:solidFill>
                <a:latin typeface="맑은 고딕" panose="020B0503020000020004" pitchFamily="50" charset="-127"/>
              </a:rPr>
              <a:t>01</a:t>
            </a:r>
            <a:endParaRPr lang="ko-KR" altLang="en-US" sz="1200">
              <a:solidFill>
                <a:srgbClr val="C8D0C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306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35F4B16-06FF-F262-7D1D-56B26AE657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3ED051-09FB-BE1F-C616-D1BA5BA89FD8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81254-E059-6421-7C9D-31C4B4F806FC}"/>
              </a:ext>
            </a:extLst>
          </p:cNvPr>
          <p:cNvSpPr txBox="1"/>
          <p:nvPr/>
        </p:nvSpPr>
        <p:spPr>
          <a:xfrm>
            <a:off x="762000" y="482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1D9E75"/>
                </a:solidFill>
                <a:latin typeface="맑은 고딕" panose="020B0503020000020004" pitchFamily="50" charset="-127"/>
              </a:rPr>
              <a:t>MARKET</a:t>
            </a:r>
            <a:endParaRPr lang="ko-KR" altLang="en-US" sz="9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E0371-5EB3-3CCF-C002-D02CBE2C232C}"/>
              </a:ext>
            </a:extLst>
          </p:cNvPr>
          <p:cNvSpPr txBox="1"/>
          <p:nvPr/>
        </p:nvSpPr>
        <p:spPr>
          <a:xfrm>
            <a:off x="762000" y="76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HR SaaS </a:t>
            </a:r>
            <a:r>
              <a:rPr lang="ko-KR" altLang="en-US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시장은 빠르게 성장 중입니다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AFD0A-D82E-91F1-4333-980F61C303B6}"/>
              </a:ext>
            </a:extLst>
          </p:cNvPr>
          <p:cNvSpPr txBox="1"/>
          <p:nvPr/>
        </p:nvSpPr>
        <p:spPr>
          <a:xfrm>
            <a:off x="762000" y="1397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solidFill>
                  <a:srgbClr val="9AA49E"/>
                </a:solidFill>
                <a:latin typeface="맑은 고딕" panose="020B0503020000020004" pitchFamily="50" charset="-127"/>
              </a:rPr>
              <a:t>통합과 자동화를 강조하는 시장의 흐름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80C6D3-9A08-AF38-F6DB-7F84544FCA82}"/>
              </a:ext>
            </a:extLst>
          </p:cNvPr>
          <p:cNvSpPr/>
          <p:nvPr/>
        </p:nvSpPr>
        <p:spPr>
          <a:xfrm>
            <a:off x="762000" y="1879600"/>
            <a:ext cx="3429000" cy="419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7435E9-0CF2-AD2A-0405-1B2926A98670}"/>
              </a:ext>
            </a:extLst>
          </p:cNvPr>
          <p:cNvSpPr/>
          <p:nvPr/>
        </p:nvSpPr>
        <p:spPr>
          <a:xfrm>
            <a:off x="990600" y="2108200"/>
            <a:ext cx="558800" cy="5588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0DA588-3035-369C-A211-53C08E8DA911}"/>
              </a:ext>
            </a:extLst>
          </p:cNvPr>
          <p:cNvSpPr txBox="1"/>
          <p:nvPr/>
        </p:nvSpPr>
        <p:spPr>
          <a:xfrm>
            <a:off x="914400" y="28194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4200" b="1">
                <a:solidFill>
                  <a:srgbClr val="1D9E75"/>
                </a:solidFill>
                <a:latin typeface="맑은 고딕" panose="020B0503020000020004" pitchFamily="50" charset="-127"/>
              </a:rPr>
              <a:t>67%</a:t>
            </a:r>
            <a:endParaRPr lang="ko-KR" altLang="en-US" sz="42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DF5C6-2DFA-CD99-8A16-6386E72600F6}"/>
              </a:ext>
            </a:extLst>
          </p:cNvPr>
          <p:cNvSpPr txBox="1"/>
          <p:nvPr/>
        </p:nvSpPr>
        <p:spPr>
          <a:xfrm>
            <a:off x="914400" y="36068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111111"/>
                </a:solidFill>
                <a:latin typeface="맑은 고딕" panose="020B0503020000020004" pitchFamily="50" charset="-127"/>
              </a:rPr>
              <a:t>통합 워크플로우 수요 증가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057A7-B36B-C61D-FCF9-11AFC095D787}"/>
              </a:ext>
            </a:extLst>
          </p:cNvPr>
          <p:cNvSpPr txBox="1"/>
          <p:nvPr/>
        </p:nvSpPr>
        <p:spPr>
          <a:xfrm>
            <a:off x="914400" y="40132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기업의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67%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가 통합 플랫폼이 업무 생산성 향상에 기여한다고 응답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77080B-ADE2-DBE6-311E-E6E7B7C179B2}"/>
              </a:ext>
            </a:extLst>
          </p:cNvPr>
          <p:cNvSpPr/>
          <p:nvPr/>
        </p:nvSpPr>
        <p:spPr>
          <a:xfrm>
            <a:off x="4470400" y="1879600"/>
            <a:ext cx="3429000" cy="419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1F05BB-4C0B-AAD6-0AA6-2FC995C7AEC8}"/>
              </a:ext>
            </a:extLst>
          </p:cNvPr>
          <p:cNvSpPr/>
          <p:nvPr/>
        </p:nvSpPr>
        <p:spPr>
          <a:xfrm>
            <a:off x="4699000" y="2108200"/>
            <a:ext cx="558800" cy="5588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🏗️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BB858-1E61-CAF9-151B-0625FC9F1F77}"/>
              </a:ext>
            </a:extLst>
          </p:cNvPr>
          <p:cNvSpPr txBox="1"/>
          <p:nvPr/>
        </p:nvSpPr>
        <p:spPr>
          <a:xfrm>
            <a:off x="4622800" y="28194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4200" b="1">
                <a:solidFill>
                  <a:srgbClr val="1D9E75"/>
                </a:solidFill>
                <a:latin typeface="맑은 고딕" panose="020B0503020000020004" pitchFamily="50" charset="-127"/>
              </a:rPr>
              <a:t>75%</a:t>
            </a:r>
            <a:endParaRPr lang="ko-KR" altLang="en-US" sz="42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EFFA9-6141-1CAD-4D33-BA00F7DCE10A}"/>
              </a:ext>
            </a:extLst>
          </p:cNvPr>
          <p:cNvSpPr txBox="1"/>
          <p:nvPr/>
        </p:nvSpPr>
        <p:spPr>
          <a:xfrm>
            <a:off x="4622800" y="36068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111111"/>
                </a:solidFill>
                <a:latin typeface="맑은 고딕" panose="020B0503020000020004" pitchFamily="50" charset="-127"/>
              </a:rPr>
              <a:t>오래된 </a:t>
            </a:r>
            <a:r>
              <a:rPr lang="en-US" altLang="ko-KR" sz="1400" b="1">
                <a:solidFill>
                  <a:srgbClr val="111111"/>
                </a:solidFill>
                <a:latin typeface="맑은 고딕" panose="020B0503020000020004" pitchFamily="50" charset="-127"/>
              </a:rPr>
              <a:t>ERP </a:t>
            </a:r>
            <a:r>
              <a:rPr lang="ko-KR" altLang="en-US" sz="1400" b="1">
                <a:solidFill>
                  <a:srgbClr val="111111"/>
                </a:solidFill>
                <a:latin typeface="맑은 고딕" panose="020B0503020000020004" pitchFamily="50" charset="-127"/>
              </a:rPr>
              <a:t>구조의 해체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4A66B-110D-A561-06AA-1B54F16E6D94}"/>
              </a:ext>
            </a:extLst>
          </p:cNvPr>
          <p:cNvSpPr txBox="1"/>
          <p:nvPr/>
        </p:nvSpPr>
        <p:spPr>
          <a:xfrm>
            <a:off x="4622800" y="40132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2027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년까지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75%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의 기업이 기존 모놀리식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ERP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에서 모듈형으로 전환 전망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AF4DDC-B277-3384-C1EE-F52156A86A72}"/>
              </a:ext>
            </a:extLst>
          </p:cNvPr>
          <p:cNvSpPr/>
          <p:nvPr/>
        </p:nvSpPr>
        <p:spPr>
          <a:xfrm>
            <a:off x="8178800" y="1879600"/>
            <a:ext cx="3429000" cy="419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A53503-18AB-5C7D-BE50-9FFF8BC1027C}"/>
              </a:ext>
            </a:extLst>
          </p:cNvPr>
          <p:cNvSpPr/>
          <p:nvPr/>
        </p:nvSpPr>
        <p:spPr>
          <a:xfrm>
            <a:off x="8407400" y="2108200"/>
            <a:ext cx="558800" cy="5588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🤖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CAC7D8-C1F7-83A3-D544-AFC6E69951A9}"/>
              </a:ext>
            </a:extLst>
          </p:cNvPr>
          <p:cNvSpPr txBox="1"/>
          <p:nvPr/>
        </p:nvSpPr>
        <p:spPr>
          <a:xfrm>
            <a:off x="8331200" y="28194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4200" b="1">
                <a:solidFill>
                  <a:srgbClr val="1D9E75"/>
                </a:solidFill>
                <a:latin typeface="맑은 고딕" panose="020B0503020000020004" pitchFamily="50" charset="-127"/>
              </a:rPr>
              <a:t>60%</a:t>
            </a:r>
            <a:endParaRPr lang="ko-KR" altLang="en-US" sz="42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8FC112-C08B-67EC-D52A-36F54F5B0A27}"/>
              </a:ext>
            </a:extLst>
          </p:cNvPr>
          <p:cNvSpPr txBox="1"/>
          <p:nvPr/>
        </p:nvSpPr>
        <p:spPr>
          <a:xfrm>
            <a:off x="8331200" y="36068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 b="1">
                <a:solidFill>
                  <a:srgbClr val="111111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400" b="1">
                <a:solidFill>
                  <a:srgbClr val="111111"/>
                </a:solidFill>
                <a:latin typeface="맑은 고딕" panose="020B0503020000020004" pitchFamily="50" charset="-127"/>
              </a:rPr>
              <a:t>기반 업무 흐름 확대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895CF-7EAB-8AD6-184B-879C44AD2CC0}"/>
              </a:ext>
            </a:extLst>
          </p:cNvPr>
          <p:cNvSpPr txBox="1"/>
          <p:nvPr/>
        </p:nvSpPr>
        <p:spPr>
          <a:xfrm>
            <a:off x="8331200" y="4013200"/>
            <a:ext cx="312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2026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년까지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60%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이상의 기업이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중심 업무 워크플로우로 재설계 전망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F2BF25-93E2-BAA0-127A-BF1F4F055B9E}"/>
              </a:ext>
            </a:extLst>
          </p:cNvPr>
          <p:cNvSpPr txBox="1"/>
          <p:nvPr/>
        </p:nvSpPr>
        <p:spPr>
          <a:xfrm>
            <a:off x="10160000" y="6477000"/>
            <a:ext cx="184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200">
                <a:solidFill>
                  <a:srgbClr val="C8D0CC"/>
                </a:solidFill>
                <a:latin typeface="맑은 고딕" panose="020B0503020000020004" pitchFamily="50" charset="-127"/>
              </a:rPr>
              <a:t>02</a:t>
            </a:r>
            <a:endParaRPr lang="ko-KR" altLang="en-US" sz="1200">
              <a:solidFill>
                <a:srgbClr val="C8D0C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528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382997-BDFE-9B8D-7C4A-BAC02B484C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51E0A7-9083-DA20-7237-AF6DC8CD8315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16993-3943-DEFC-E7C5-919AC160DB46}"/>
              </a:ext>
            </a:extLst>
          </p:cNvPr>
          <p:cNvSpPr txBox="1"/>
          <p:nvPr/>
        </p:nvSpPr>
        <p:spPr>
          <a:xfrm>
            <a:off x="762000" y="482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1D9E75"/>
                </a:solidFill>
                <a:latin typeface="맑은 고딕" panose="020B0503020000020004" pitchFamily="50" charset="-127"/>
              </a:rPr>
              <a:t>MARKET</a:t>
            </a:r>
            <a:endParaRPr lang="ko-KR" altLang="en-US" sz="9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6E32C-2380-8176-69A9-97DE217EC504}"/>
              </a:ext>
            </a:extLst>
          </p:cNvPr>
          <p:cNvSpPr txBox="1"/>
          <p:nvPr/>
        </p:nvSpPr>
        <p:spPr>
          <a:xfrm>
            <a:off x="762000" y="762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글로벌 </a:t>
            </a:r>
            <a:r>
              <a:rPr lang="en-US" altLang="ko-KR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HR Tech </a:t>
            </a:r>
            <a:r>
              <a:rPr lang="ko-KR" altLang="en-US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시장 규모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3929A-80D1-FB9D-A11C-AAA0164D9317}"/>
              </a:ext>
            </a:extLst>
          </p:cNvPr>
          <p:cNvSpPr txBox="1"/>
          <p:nvPr/>
        </p:nvSpPr>
        <p:spPr>
          <a:xfrm>
            <a:off x="762000" y="1397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solidFill>
                  <a:srgbClr val="9AA49E"/>
                </a:solidFill>
                <a:latin typeface="맑은 고딕" panose="020B0503020000020004" pitchFamily="50" charset="-127"/>
              </a:rPr>
              <a:t>숫자로 보는 성장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BC0554-3164-4A99-EE63-C31B24F0F6EF}"/>
              </a:ext>
            </a:extLst>
          </p:cNvPr>
          <p:cNvSpPr/>
          <p:nvPr/>
        </p:nvSpPr>
        <p:spPr>
          <a:xfrm>
            <a:off x="762000" y="1879600"/>
            <a:ext cx="10668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B7CCC-5427-9B7A-6D90-6386B88CE4AC}"/>
              </a:ext>
            </a:extLst>
          </p:cNvPr>
          <p:cNvSpPr txBox="1"/>
          <p:nvPr/>
        </p:nvSpPr>
        <p:spPr>
          <a:xfrm>
            <a:off x="1143000" y="20955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2024</a:t>
            </a:r>
            <a:endParaRPr lang="ko-KR" altLang="en-US" sz="12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B15E7-223E-E471-BF55-74D08F6F4897}"/>
              </a:ext>
            </a:extLst>
          </p:cNvPr>
          <p:cNvSpPr txBox="1"/>
          <p:nvPr/>
        </p:nvSpPr>
        <p:spPr>
          <a:xfrm>
            <a:off x="1143000" y="2387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$38.17B</a:t>
            </a:r>
            <a:endParaRPr lang="ko-KR" altLang="en-US" sz="2800" b="1">
              <a:solidFill>
                <a:srgbClr val="11111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61A05-ECDA-13DA-DCDD-C537D53EC9FC}"/>
              </a:ext>
            </a:extLst>
          </p:cNvPr>
          <p:cNvSpPr txBox="1"/>
          <p:nvPr/>
        </p:nvSpPr>
        <p:spPr>
          <a:xfrm>
            <a:off x="5461000" y="24130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2800" b="1">
                <a:solidFill>
                  <a:srgbClr val="1D9E75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D9310C-9FB4-040D-AEBE-691619163744}"/>
              </a:ext>
            </a:extLst>
          </p:cNvPr>
          <p:cNvSpPr/>
          <p:nvPr/>
        </p:nvSpPr>
        <p:spPr>
          <a:xfrm>
            <a:off x="3048000" y="2730500"/>
            <a:ext cx="6096000" cy="101600"/>
          </a:xfrm>
          <a:prstGeom prst="rect">
            <a:avLst/>
          </a:prstGeom>
          <a:solidFill>
            <a:srgbClr val="E8EE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4A7E87-2963-04B5-B99D-D1B036BFD69F}"/>
              </a:ext>
            </a:extLst>
          </p:cNvPr>
          <p:cNvSpPr/>
          <p:nvPr/>
        </p:nvSpPr>
        <p:spPr>
          <a:xfrm>
            <a:off x="3048000" y="2730500"/>
            <a:ext cx="3962400" cy="1016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9AD210-DAF8-B5A1-BDFC-08A81548A9F8}"/>
              </a:ext>
            </a:extLst>
          </p:cNvPr>
          <p:cNvSpPr txBox="1"/>
          <p:nvPr/>
        </p:nvSpPr>
        <p:spPr>
          <a:xfrm>
            <a:off x="4953000" y="25400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300" b="1">
                <a:solidFill>
                  <a:srgbClr val="1D9E75"/>
                </a:solidFill>
                <a:latin typeface="맑은 고딕" panose="020B0503020000020004" pitchFamily="50" charset="-127"/>
              </a:rPr>
              <a:t>CAGR 12%</a:t>
            </a:r>
            <a:endParaRPr lang="ko-KR" altLang="en-US" sz="13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93158-0C93-1AB8-D52F-44D67980C2B9}"/>
              </a:ext>
            </a:extLst>
          </p:cNvPr>
          <p:cNvSpPr txBox="1"/>
          <p:nvPr/>
        </p:nvSpPr>
        <p:spPr>
          <a:xfrm>
            <a:off x="8890000" y="20955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2030</a:t>
            </a:r>
            <a:endParaRPr lang="ko-KR" altLang="en-US" sz="12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2894B5-E4F4-1F8C-E450-3085A304D396}"/>
              </a:ext>
            </a:extLst>
          </p:cNvPr>
          <p:cNvSpPr txBox="1"/>
          <p:nvPr/>
        </p:nvSpPr>
        <p:spPr>
          <a:xfrm>
            <a:off x="8890000" y="23876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800" b="1">
                <a:solidFill>
                  <a:srgbClr val="1D9E75"/>
                </a:solidFill>
                <a:latin typeface="맑은 고딕" panose="020B0503020000020004" pitchFamily="50" charset="-127"/>
              </a:rPr>
              <a:t>$75.30B</a:t>
            </a:r>
            <a:endParaRPr lang="ko-KR" altLang="en-US" sz="28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2A91B0-DD1E-39A3-A91F-924CADE782A0}"/>
              </a:ext>
            </a:extLst>
          </p:cNvPr>
          <p:cNvSpPr/>
          <p:nvPr/>
        </p:nvSpPr>
        <p:spPr>
          <a:xfrm>
            <a:off x="762000" y="3810000"/>
            <a:ext cx="5080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A1B1C1-2FF6-36EC-DF75-B30F1B3A1C5F}"/>
              </a:ext>
            </a:extLst>
          </p:cNvPr>
          <p:cNvSpPr txBox="1"/>
          <p:nvPr/>
        </p:nvSpPr>
        <p:spPr>
          <a:xfrm>
            <a:off x="1117600" y="4064000"/>
            <a:ext cx="444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국내 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HR SaaS 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시장 규모 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(2024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년 기준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74B597-B71D-0BD5-3DBB-E24FD0966B24}"/>
              </a:ext>
            </a:extLst>
          </p:cNvPr>
          <p:cNvSpPr txBox="1"/>
          <p:nvPr/>
        </p:nvSpPr>
        <p:spPr>
          <a:xfrm>
            <a:off x="1117600" y="44196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4000" b="1">
                <a:solidFill>
                  <a:srgbClr val="111111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4000" b="1">
                <a:solidFill>
                  <a:srgbClr val="111111"/>
                </a:solidFill>
                <a:latin typeface="맑은 고딕" panose="020B0503020000020004" pitchFamily="50" charset="-127"/>
              </a:rPr>
              <a:t>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57A16-FEAF-E3E8-5681-2DB3C4636A68}"/>
              </a:ext>
            </a:extLst>
          </p:cNvPr>
          <p:cNvSpPr txBox="1"/>
          <p:nvPr/>
        </p:nvSpPr>
        <p:spPr>
          <a:xfrm>
            <a:off x="2540000" y="46990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b="1">
                <a:solidFill>
                  <a:srgbClr val="1D9E75"/>
                </a:solidFill>
                <a:latin typeface="맑은 고딕" panose="020B0503020000020004" pitchFamily="50" charset="-127"/>
              </a:rPr>
              <a:t>원</a:t>
            </a:r>
            <a:r>
              <a:rPr lang="en-US" altLang="ko-KR" b="1">
                <a:solidFill>
                  <a:srgbClr val="1D9E75"/>
                </a:solidFill>
                <a:latin typeface="맑은 고딕" panose="020B0503020000020004" pitchFamily="50" charset="-127"/>
              </a:rPr>
              <a:t>+</a:t>
            </a:r>
            <a:endParaRPr lang="ko-KR" altLang="en-US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3A56A7-B793-F4AC-8923-DB9FAB2099CA}"/>
              </a:ext>
            </a:extLst>
          </p:cNvPr>
          <p:cNvSpPr txBox="1"/>
          <p:nvPr/>
        </p:nvSpPr>
        <p:spPr>
          <a:xfrm>
            <a:off x="1117600" y="5334000"/>
            <a:ext cx="444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>
                <a:solidFill>
                  <a:srgbClr val="1D9E75"/>
                </a:solidFill>
                <a:latin typeface="맑은 고딕" panose="020B0503020000020004" pitchFamily="50" charset="-127"/>
              </a:rPr>
              <a:t>연 </a:t>
            </a:r>
            <a:r>
              <a:rPr lang="en-US" altLang="ko-KR" sz="1200" b="1">
                <a:solidFill>
                  <a:srgbClr val="1D9E75"/>
                </a:solidFill>
                <a:latin typeface="맑은 고딕" panose="020B0503020000020004" pitchFamily="50" charset="-127"/>
              </a:rPr>
              <a:t>15% </a:t>
            </a:r>
            <a:r>
              <a:rPr lang="ko-KR" altLang="en-US" sz="1200" b="1">
                <a:solidFill>
                  <a:srgbClr val="1D9E75"/>
                </a:solidFill>
                <a:latin typeface="맑은 고딕" panose="020B0503020000020004" pitchFamily="50" charset="-127"/>
              </a:rPr>
              <a:t>성장 중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AFEB05F-E4A9-7A11-6AD8-90BF88CBC52B}"/>
              </a:ext>
            </a:extLst>
          </p:cNvPr>
          <p:cNvSpPr/>
          <p:nvPr/>
        </p:nvSpPr>
        <p:spPr>
          <a:xfrm>
            <a:off x="6096000" y="3810000"/>
            <a:ext cx="5334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5F8FC-2165-A3D0-6FE6-867AD510D799}"/>
              </a:ext>
            </a:extLst>
          </p:cNvPr>
          <p:cNvSpPr txBox="1"/>
          <p:nvPr/>
        </p:nvSpPr>
        <p:spPr>
          <a:xfrm>
            <a:off x="6451600" y="4064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국내 중소기업 </a:t>
            </a:r>
            <a:r>
              <a:rPr lang="en-US" altLang="ko-KR" sz="12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200">
                <a:solidFill>
                  <a:srgbClr val="9AA49E"/>
                </a:solidFill>
                <a:latin typeface="맑은 고딕" panose="020B0503020000020004" pitchFamily="50" charset="-127"/>
              </a:rPr>
              <a:t>시스템 미도입 비율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A796C-4944-82B4-4A3D-5C35EBB77EE4}"/>
              </a:ext>
            </a:extLst>
          </p:cNvPr>
          <p:cNvSpPr txBox="1"/>
          <p:nvPr/>
        </p:nvSpPr>
        <p:spPr>
          <a:xfrm>
            <a:off x="6451600" y="4419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4000" b="1">
                <a:solidFill>
                  <a:srgbClr val="111111"/>
                </a:solidFill>
                <a:latin typeface="맑은 고딕" panose="020B0503020000020004" pitchFamily="50" charset="-127"/>
              </a:rPr>
              <a:t>60</a:t>
            </a:r>
            <a:endParaRPr lang="ko-KR" altLang="en-US" sz="4000" b="1">
              <a:solidFill>
                <a:srgbClr val="11111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A5D62A-50F2-285A-DDC6-3A6D052A8C8A}"/>
              </a:ext>
            </a:extLst>
          </p:cNvPr>
          <p:cNvSpPr txBox="1"/>
          <p:nvPr/>
        </p:nvSpPr>
        <p:spPr>
          <a:xfrm>
            <a:off x="7874000" y="46990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b="1">
                <a:solidFill>
                  <a:srgbClr val="1D9E75"/>
                </a:solidFill>
                <a:latin typeface="맑은 고딕" panose="020B0503020000020004" pitchFamily="50" charset="-127"/>
              </a:rPr>
              <a:t>%+</a:t>
            </a:r>
            <a:endParaRPr lang="ko-KR" altLang="en-US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5C113C-FC8F-F893-57CC-5AEE4DA4647E}"/>
              </a:ext>
            </a:extLst>
          </p:cNvPr>
          <p:cNvSpPr txBox="1"/>
          <p:nvPr/>
        </p:nvSpPr>
        <p:spPr>
          <a:xfrm>
            <a:off x="6451600" y="53340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>
                <a:solidFill>
                  <a:srgbClr val="1D9E75"/>
                </a:solidFill>
                <a:latin typeface="맑은 고딕" panose="020B0503020000020004" pitchFamily="50" charset="-127"/>
              </a:rPr>
              <a:t>도입 여력 충분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F79DCD-821A-1FEE-AF58-F48D523690F0}"/>
              </a:ext>
            </a:extLst>
          </p:cNvPr>
          <p:cNvSpPr txBox="1"/>
          <p:nvPr/>
        </p:nvSpPr>
        <p:spPr>
          <a:xfrm>
            <a:off x="10160000" y="6477000"/>
            <a:ext cx="184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200">
                <a:solidFill>
                  <a:srgbClr val="C8D0CC"/>
                </a:solidFill>
                <a:latin typeface="맑은 고딕" panose="020B0503020000020004" pitchFamily="50" charset="-127"/>
              </a:rPr>
              <a:t>03</a:t>
            </a:r>
            <a:endParaRPr lang="ko-KR" altLang="en-US" sz="1200">
              <a:solidFill>
                <a:srgbClr val="C8D0C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970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1534B6E-1203-501C-2C59-51FFB1EF4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8C42C8-126A-8C44-211A-5084C0A5CA6B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D6A77-9344-AAE2-1279-8E95D8563C22}"/>
              </a:ext>
            </a:extLst>
          </p:cNvPr>
          <p:cNvSpPr txBox="1"/>
          <p:nvPr/>
        </p:nvSpPr>
        <p:spPr>
          <a:xfrm>
            <a:off x="762000" y="406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1D9E75"/>
                </a:solidFill>
                <a:latin typeface="맑은 고딕" panose="020B0503020000020004" pitchFamily="50" charset="-127"/>
              </a:rPr>
              <a:t>PRODUCT</a:t>
            </a:r>
            <a:endParaRPr lang="ko-KR" altLang="en-US" sz="9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D8DAD-E0F7-7C38-4860-132E4E18BCA3}"/>
              </a:ext>
            </a:extLst>
          </p:cNvPr>
          <p:cNvSpPr txBox="1"/>
          <p:nvPr/>
        </p:nvSpPr>
        <p:spPr>
          <a:xfrm>
            <a:off x="762000" y="660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PeopleCore</a:t>
            </a:r>
            <a:r>
              <a:rPr lang="ko-KR" altLang="en-US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란</a:t>
            </a:r>
            <a:r>
              <a:rPr lang="en-US" altLang="ko-KR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?</a:t>
            </a:r>
            <a:endParaRPr lang="ko-KR" altLang="en-US" sz="2800" b="1">
              <a:solidFill>
                <a:srgbClr val="11111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2ADC9-B241-8E91-8F12-EAF76046518F}"/>
              </a:ext>
            </a:extLst>
          </p:cNvPr>
          <p:cNvSpPr txBox="1"/>
          <p:nvPr/>
        </p:nvSpPr>
        <p:spPr>
          <a:xfrm>
            <a:off x="762000" y="11938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3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300">
                <a:solidFill>
                  <a:srgbClr val="9AA49E"/>
                </a:solidFill>
                <a:latin typeface="맑은 고딕" panose="020B0503020000020004" pitchFamily="50" charset="-127"/>
              </a:rPr>
              <a:t>업무 전체를 하나의 플랫폼에서 </a:t>
            </a:r>
            <a:r>
              <a:rPr lang="en-US" altLang="ko-KR" sz="1300">
                <a:solidFill>
                  <a:srgbClr val="9AA49E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9AA49E"/>
                </a:solidFill>
                <a:latin typeface="맑은 고딕" panose="020B0503020000020004" pitchFamily="50" charset="-127"/>
              </a:rPr>
              <a:t>담당자가 직접 설정하고 즉시 사용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A6C8FA-5B0B-0654-49F0-EBA26FDBEB18}"/>
              </a:ext>
            </a:extLst>
          </p:cNvPr>
          <p:cNvSpPr/>
          <p:nvPr/>
        </p:nvSpPr>
        <p:spPr>
          <a:xfrm>
            <a:off x="762000" y="16002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10F9C3-E5E3-8B30-77BF-70363DEC5732}"/>
              </a:ext>
            </a:extLst>
          </p:cNvPr>
          <p:cNvSpPr/>
          <p:nvPr/>
        </p:nvSpPr>
        <p:spPr>
          <a:xfrm>
            <a:off x="914400" y="17526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/>
              <a:t>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C14D2-1929-7099-8D13-AEDE478C83F3}"/>
              </a:ext>
            </a:extLst>
          </p:cNvPr>
          <p:cNvSpPr txBox="1"/>
          <p:nvPr/>
        </p:nvSpPr>
        <p:spPr>
          <a:xfrm>
            <a:off x="889000" y="23368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사원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5235FF-8A0C-9110-25D8-55DE763E7420}"/>
              </a:ext>
            </a:extLst>
          </p:cNvPr>
          <p:cNvSpPr txBox="1"/>
          <p:nvPr/>
        </p:nvSpPr>
        <p:spPr>
          <a:xfrm>
            <a:off x="889000" y="2667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등록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인사발령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인력 현황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14D9C9-3396-E16F-BEB7-DBC3FDB6B98A}"/>
              </a:ext>
            </a:extLst>
          </p:cNvPr>
          <p:cNvSpPr/>
          <p:nvPr/>
        </p:nvSpPr>
        <p:spPr>
          <a:xfrm>
            <a:off x="3606800" y="16002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2E131D-938B-4BE6-B095-4133A858ACD2}"/>
              </a:ext>
            </a:extLst>
          </p:cNvPr>
          <p:cNvSpPr/>
          <p:nvPr/>
        </p:nvSpPr>
        <p:spPr>
          <a:xfrm>
            <a:off x="3759200" y="17526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/>
              <a:t>⏰</a:t>
            </a:r>
            <a:endParaRPr lang="ko-KR" altLang="en-US" sz="17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5F2CA-49CA-41C2-8DB2-D9F1659D438E}"/>
              </a:ext>
            </a:extLst>
          </p:cNvPr>
          <p:cNvSpPr txBox="1"/>
          <p:nvPr/>
        </p:nvSpPr>
        <p:spPr>
          <a:xfrm>
            <a:off x="3733800" y="23368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근태 관리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FF180-D597-FF91-53BB-967956250A3C}"/>
              </a:ext>
            </a:extLst>
          </p:cNvPr>
          <p:cNvSpPr txBox="1"/>
          <p:nvPr/>
        </p:nvSpPr>
        <p:spPr>
          <a:xfrm>
            <a:off x="3733800" y="2667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출퇴근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초과근무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휴가 집계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EFC719-B5CE-08CF-7C3A-A81DDB00B5A3}"/>
              </a:ext>
            </a:extLst>
          </p:cNvPr>
          <p:cNvSpPr/>
          <p:nvPr/>
        </p:nvSpPr>
        <p:spPr>
          <a:xfrm>
            <a:off x="6451600" y="16002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5B40B1-A5DD-0C6E-000D-C30B28BC7AB1}"/>
              </a:ext>
            </a:extLst>
          </p:cNvPr>
          <p:cNvSpPr/>
          <p:nvPr/>
        </p:nvSpPr>
        <p:spPr>
          <a:xfrm>
            <a:off x="6604000" y="17526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/>
              <a:t>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7BEBB-BFD2-59C9-C151-E7DA54D489AB}"/>
              </a:ext>
            </a:extLst>
          </p:cNvPr>
          <p:cNvSpPr txBox="1"/>
          <p:nvPr/>
        </p:nvSpPr>
        <p:spPr>
          <a:xfrm>
            <a:off x="6578600" y="23368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급여 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35346C-91AC-0AD2-B42F-DE2A7948EA44}"/>
              </a:ext>
            </a:extLst>
          </p:cNvPr>
          <p:cNvSpPr txBox="1"/>
          <p:nvPr/>
        </p:nvSpPr>
        <p:spPr>
          <a:xfrm>
            <a:off x="6578600" y="2667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자동 산정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명세서 발송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4F05FF-31AA-4463-6912-AD570F85F8FE}"/>
              </a:ext>
            </a:extLst>
          </p:cNvPr>
          <p:cNvSpPr/>
          <p:nvPr/>
        </p:nvSpPr>
        <p:spPr>
          <a:xfrm>
            <a:off x="9296400" y="16002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9C1515-79C5-D4DD-B6A5-91B5BC3BE277}"/>
              </a:ext>
            </a:extLst>
          </p:cNvPr>
          <p:cNvSpPr/>
          <p:nvPr/>
        </p:nvSpPr>
        <p:spPr>
          <a:xfrm>
            <a:off x="9448800" y="17526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/>
              <a:t>📊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CC2633-75BA-8252-0CC3-383F50E339BF}"/>
              </a:ext>
            </a:extLst>
          </p:cNvPr>
          <p:cNvSpPr txBox="1"/>
          <p:nvPr/>
        </p:nvSpPr>
        <p:spPr>
          <a:xfrm>
            <a:off x="9423400" y="23368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성과 평가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908CC4-78B3-CF1F-ADF6-FE281442FB45}"/>
              </a:ext>
            </a:extLst>
          </p:cNvPr>
          <p:cNvSpPr txBox="1"/>
          <p:nvPr/>
        </p:nvSpPr>
        <p:spPr>
          <a:xfrm>
            <a:off x="9423400" y="26670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KPI·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다면평가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등급 자동 산정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A84E10-97A3-B999-ECEA-FD3DF182179C}"/>
              </a:ext>
            </a:extLst>
          </p:cNvPr>
          <p:cNvSpPr/>
          <p:nvPr/>
        </p:nvSpPr>
        <p:spPr>
          <a:xfrm>
            <a:off x="762000" y="37338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974051E-0606-132D-0FC5-55FBFF836739}"/>
              </a:ext>
            </a:extLst>
          </p:cNvPr>
          <p:cNvSpPr/>
          <p:nvPr/>
        </p:nvSpPr>
        <p:spPr>
          <a:xfrm>
            <a:off x="914400" y="38862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/>
              <a:t>✍️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16116E-40FF-4BED-96D4-09D548359B29}"/>
              </a:ext>
            </a:extLst>
          </p:cNvPr>
          <p:cNvSpPr txBox="1"/>
          <p:nvPr/>
        </p:nvSpPr>
        <p:spPr>
          <a:xfrm>
            <a:off x="889000" y="44704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전자결재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35876C-102B-114D-042C-0A5536F33EA2}"/>
              </a:ext>
            </a:extLst>
          </p:cNvPr>
          <p:cNvSpPr txBox="1"/>
          <p:nvPr/>
        </p:nvSpPr>
        <p:spPr>
          <a:xfrm>
            <a:off x="889000" y="48006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결재선 설정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문서 자동 채번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B7303A-BE4F-7D50-12B3-3EEA5AD5D5D7}"/>
              </a:ext>
            </a:extLst>
          </p:cNvPr>
          <p:cNvSpPr/>
          <p:nvPr/>
        </p:nvSpPr>
        <p:spPr>
          <a:xfrm>
            <a:off x="3606800" y="37338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B651CFD-4A0C-63F5-0288-8D6FAADDF5B8}"/>
              </a:ext>
            </a:extLst>
          </p:cNvPr>
          <p:cNvSpPr/>
          <p:nvPr/>
        </p:nvSpPr>
        <p:spPr>
          <a:xfrm>
            <a:off x="3759200" y="38862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/>
              <a:t>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4728FC-0ABD-6B73-B1EE-AEC5C0FEA5D4}"/>
              </a:ext>
            </a:extLst>
          </p:cNvPr>
          <p:cNvSpPr txBox="1"/>
          <p:nvPr/>
        </p:nvSpPr>
        <p:spPr>
          <a:xfrm>
            <a:off x="3733800" y="44704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협업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5F8E67-C8E9-4359-0266-933E5CC98C42}"/>
              </a:ext>
            </a:extLst>
          </p:cNvPr>
          <p:cNvSpPr txBox="1"/>
          <p:nvPr/>
        </p:nvSpPr>
        <p:spPr>
          <a:xfrm>
            <a:off x="3733800" y="48006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채팅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캘린더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파일함 통합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8A06BD2-412D-BFD6-7036-1A5B3FC8F3F6}"/>
              </a:ext>
            </a:extLst>
          </p:cNvPr>
          <p:cNvSpPr/>
          <p:nvPr/>
        </p:nvSpPr>
        <p:spPr>
          <a:xfrm>
            <a:off x="6451600" y="37338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FC6FEE-D387-1F31-2782-E8356154A083}"/>
              </a:ext>
            </a:extLst>
          </p:cNvPr>
          <p:cNvSpPr/>
          <p:nvPr/>
        </p:nvSpPr>
        <p:spPr>
          <a:xfrm>
            <a:off x="6604000" y="38862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/>
              <a:t>🔍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099527-B493-1F83-509E-73E1F6298D57}"/>
              </a:ext>
            </a:extLst>
          </p:cNvPr>
          <p:cNvSpPr txBox="1"/>
          <p:nvPr/>
        </p:nvSpPr>
        <p:spPr>
          <a:xfrm>
            <a:off x="6578600" y="44704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통합 검색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847B5F-CED5-7177-427A-0F322F7E340C}"/>
              </a:ext>
            </a:extLst>
          </p:cNvPr>
          <p:cNvSpPr txBox="1"/>
          <p:nvPr/>
        </p:nvSpPr>
        <p:spPr>
          <a:xfrm>
            <a:off x="6578600" y="48006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사원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문서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일정 실시간 검색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7F9BCDB-F7E4-BEFA-00BA-6D473F958231}"/>
              </a:ext>
            </a:extLst>
          </p:cNvPr>
          <p:cNvSpPr/>
          <p:nvPr/>
        </p:nvSpPr>
        <p:spPr>
          <a:xfrm>
            <a:off x="9296400" y="3733800"/>
            <a:ext cx="2667000" cy="1968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B164AF-9CAA-C081-7F05-DF0671056D73}"/>
              </a:ext>
            </a:extLst>
          </p:cNvPr>
          <p:cNvSpPr/>
          <p:nvPr/>
        </p:nvSpPr>
        <p:spPr>
          <a:xfrm>
            <a:off x="9448800" y="3886200"/>
            <a:ext cx="482600" cy="4826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700"/>
              <a:t>🤖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467D29-A2DE-C393-6326-3858B05862A3}"/>
              </a:ext>
            </a:extLst>
          </p:cNvPr>
          <p:cNvSpPr txBox="1"/>
          <p:nvPr/>
        </p:nvSpPr>
        <p:spPr>
          <a:xfrm>
            <a:off x="9423400" y="44704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AI Copilot</a:t>
            </a:r>
            <a:endParaRPr lang="ko-KR" altLang="en-US" sz="1300" b="1">
              <a:solidFill>
                <a:srgbClr val="11111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BD71ED-D8ED-33FF-CAE9-DFC8EF38C8D1}"/>
              </a:ext>
            </a:extLst>
          </p:cNvPr>
          <p:cNvSpPr txBox="1"/>
          <p:nvPr/>
        </p:nvSpPr>
        <p:spPr>
          <a:xfrm>
            <a:off x="9423400" y="4800600"/>
            <a:ext cx="241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인사 데이터 기반 </a:t>
            </a:r>
            <a:r>
              <a:rPr lang="en-US" altLang="ko-KR" sz="1000">
                <a:solidFill>
                  <a:srgbClr val="9AA49E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9AA49E"/>
                </a:solidFill>
                <a:latin typeface="맑은 고딕" panose="020B0503020000020004" pitchFamily="50" charset="-127"/>
              </a:rPr>
              <a:t>어시스턴트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CE84638-9DD1-2E16-8187-96CC3F090F3E}"/>
              </a:ext>
            </a:extLst>
          </p:cNvPr>
          <p:cNvSpPr/>
          <p:nvPr/>
        </p:nvSpPr>
        <p:spPr>
          <a:xfrm>
            <a:off x="762000" y="5892800"/>
            <a:ext cx="10668000" cy="660400"/>
          </a:xfrm>
          <a:prstGeom prst="rect">
            <a:avLst/>
          </a:prstGeom>
          <a:solidFill>
            <a:srgbClr val="F0FA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AA74CE2-A162-84EE-9B9C-E3DDB6F4C985}"/>
              </a:ext>
            </a:extLst>
          </p:cNvPr>
          <p:cNvSpPr/>
          <p:nvPr/>
        </p:nvSpPr>
        <p:spPr>
          <a:xfrm>
            <a:off x="762000" y="5892800"/>
            <a:ext cx="50800" cy="6604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373789-B169-25DB-919D-BAB1778DC178}"/>
              </a:ext>
            </a:extLst>
          </p:cNvPr>
          <p:cNvSpPr txBox="1"/>
          <p:nvPr/>
        </p:nvSpPr>
        <p:spPr>
          <a:xfrm>
            <a:off x="990600" y="5892800"/>
            <a:ext cx="10439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4A5E56"/>
                </a:solidFill>
                <a:latin typeface="맑은 고딕" panose="020B0503020000020004" pitchFamily="50" charset="-127"/>
              </a:rPr>
              <a:t>⚙️ 결재선</a:t>
            </a:r>
            <a:r>
              <a:rPr lang="en-US" altLang="ko-KR" sz="1100">
                <a:solidFill>
                  <a:srgbClr val="4A5E5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4A5E56"/>
                </a:solidFill>
                <a:latin typeface="맑은 고딕" panose="020B0503020000020004" pitchFamily="50" charset="-127"/>
              </a:rPr>
              <a:t>근무 정책</a:t>
            </a:r>
            <a:r>
              <a:rPr lang="en-US" altLang="ko-KR" sz="1100">
                <a:solidFill>
                  <a:srgbClr val="4A5E5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4A5E56"/>
                </a:solidFill>
                <a:latin typeface="맑은 고딕" panose="020B0503020000020004" pitchFamily="50" charset="-127"/>
              </a:rPr>
              <a:t>급여 항목</a:t>
            </a:r>
            <a:r>
              <a:rPr lang="en-US" altLang="ko-KR" sz="1100">
                <a:solidFill>
                  <a:srgbClr val="4A5E5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4A5E56"/>
                </a:solidFill>
                <a:latin typeface="맑은 고딕" panose="020B0503020000020004" pitchFamily="50" charset="-127"/>
              </a:rPr>
              <a:t>평가 등급을 </a:t>
            </a:r>
            <a:r>
              <a:rPr lang="en-US" altLang="ko-KR" sz="1100">
                <a:solidFill>
                  <a:srgbClr val="4A5E56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100">
                <a:solidFill>
                  <a:srgbClr val="4A5E56"/>
                </a:solidFill>
                <a:latin typeface="맑은 고딕" panose="020B0503020000020004" pitchFamily="50" charset="-127"/>
              </a:rPr>
              <a:t>담당자가 직접 설정할 수 있어</a:t>
            </a:r>
            <a:r>
              <a:rPr lang="en-US" altLang="ko-KR" sz="1100">
                <a:solidFill>
                  <a:srgbClr val="4A5E5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4A5E56"/>
                </a:solidFill>
                <a:latin typeface="맑은 고딕" panose="020B0503020000020004" pitchFamily="50" charset="-127"/>
              </a:rPr>
              <a:t>외부 업체 의뢰 없이 우리 회사에 맞는 시스템을 즉시 운영할 수 있습니다</a:t>
            </a:r>
            <a:r>
              <a:rPr lang="en-US" altLang="ko-KR" sz="1100">
                <a:solidFill>
                  <a:srgbClr val="4A5E56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4A5E5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F98117-DBEE-EA1B-17AE-787A7A4FCCFF}"/>
              </a:ext>
            </a:extLst>
          </p:cNvPr>
          <p:cNvSpPr txBox="1"/>
          <p:nvPr/>
        </p:nvSpPr>
        <p:spPr>
          <a:xfrm>
            <a:off x="10160000" y="6477000"/>
            <a:ext cx="184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200">
                <a:solidFill>
                  <a:srgbClr val="C8D0CC"/>
                </a:solidFill>
                <a:latin typeface="맑은 고딕" panose="020B0503020000020004" pitchFamily="50" charset="-127"/>
              </a:rPr>
              <a:t>04</a:t>
            </a:r>
            <a:endParaRPr lang="ko-KR" altLang="en-US" sz="1200">
              <a:solidFill>
                <a:srgbClr val="C8D0C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952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A6825B9-93D4-A71F-DA2D-2C85093E9B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A9DA07-2BE7-4E47-CCBB-8D1A76759262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DF8DE-FD33-FB20-C0DC-545E3C809DAA}"/>
              </a:ext>
            </a:extLst>
          </p:cNvPr>
          <p:cNvSpPr txBox="1"/>
          <p:nvPr/>
        </p:nvSpPr>
        <p:spPr>
          <a:xfrm>
            <a:off x="508000" y="7620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GOAL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A96DE-C034-007A-916D-873C980F0863}"/>
              </a:ext>
            </a:extLst>
          </p:cNvPr>
          <p:cNvSpPr txBox="1"/>
          <p:nvPr/>
        </p:nvSpPr>
        <p:spPr>
          <a:xfrm>
            <a:off x="508000" y="10414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PeopleCore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가 추구하는 목표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85A8F0-DFCC-9CD5-CEC7-AD50F5D62C7D}"/>
              </a:ext>
            </a:extLst>
          </p:cNvPr>
          <p:cNvSpPr txBox="1"/>
          <p:nvPr/>
        </p:nvSpPr>
        <p:spPr>
          <a:xfrm>
            <a:off x="508000" y="24384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>
                <a:solidFill>
                  <a:srgbClr val="E0FFF4"/>
                </a:solidFill>
                <a:latin typeface="맑은 고딕" panose="020B0503020000020004" pitchFamily="50" charset="-127"/>
              </a:rPr>
              <a:t>중소기업도 대기업 수준의 </a:t>
            </a:r>
            <a:r>
              <a:rPr lang="en-US" altLang="ko-KR" sz="1200">
                <a:solidFill>
                  <a:srgbClr val="E0FFF4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200">
                <a:solidFill>
                  <a:srgbClr val="E0FFF4"/>
                </a:solidFill>
                <a:latin typeface="맑은 고딕" panose="020B0503020000020004" pitchFamily="50" charset="-127"/>
              </a:rPr>
              <a:t>환경을 누릴 수 있도록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B29588-5243-695A-7010-61BE4860B59D}"/>
              </a:ext>
            </a:extLst>
          </p:cNvPr>
          <p:cNvSpPr/>
          <p:nvPr/>
        </p:nvSpPr>
        <p:spPr>
          <a:xfrm>
            <a:off x="4191000" y="863600"/>
            <a:ext cx="7620000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2343F6-17FD-446C-1A07-12353B9AF685}"/>
              </a:ext>
            </a:extLst>
          </p:cNvPr>
          <p:cNvSpPr/>
          <p:nvPr/>
        </p:nvSpPr>
        <p:spPr>
          <a:xfrm>
            <a:off x="4470400" y="1092200"/>
            <a:ext cx="508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EA45B-C527-EFC8-4D86-269B9C4E5501}"/>
              </a:ext>
            </a:extLst>
          </p:cNvPr>
          <p:cNvSpPr txBox="1"/>
          <p:nvPr/>
        </p:nvSpPr>
        <p:spPr>
          <a:xfrm>
            <a:off x="4470400" y="10922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1D9E75"/>
                </a:solidFill>
                <a:latin typeface="맑은 고딕" panose="020B0503020000020004" pitchFamily="50" charset="-127"/>
              </a:rPr>
              <a:t>1</a:t>
            </a:r>
            <a:endParaRPr lang="ko-KR" altLang="en-US" sz="16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8C51E3-D219-A533-C343-84BA238C27C9}"/>
              </a:ext>
            </a:extLst>
          </p:cNvPr>
          <p:cNvSpPr txBox="1"/>
          <p:nvPr/>
        </p:nvSpPr>
        <p:spPr>
          <a:xfrm>
            <a:off x="5156200" y="10668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누구나 쉽게 도입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75226-C7ED-6734-5483-DD79B528EC67}"/>
              </a:ext>
            </a:extLst>
          </p:cNvPr>
          <p:cNvSpPr txBox="1"/>
          <p:nvPr/>
        </p:nvSpPr>
        <p:spPr>
          <a:xfrm>
            <a:off x="5156200" y="14732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구독형 서비스로 초기 투자 비용 없이 월정액으로 즉시 사용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중소기업도 대기업 수준의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시스템을 경험할 수 있습니다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F40273-3638-77B2-020A-67B1E514ACC2}"/>
              </a:ext>
            </a:extLst>
          </p:cNvPr>
          <p:cNvSpPr/>
          <p:nvPr/>
        </p:nvSpPr>
        <p:spPr>
          <a:xfrm>
            <a:off x="4191000" y="2794000"/>
            <a:ext cx="7620000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85D78F-D285-E669-648B-ADC86722FA45}"/>
              </a:ext>
            </a:extLst>
          </p:cNvPr>
          <p:cNvSpPr/>
          <p:nvPr/>
        </p:nvSpPr>
        <p:spPr>
          <a:xfrm>
            <a:off x="4470400" y="3022600"/>
            <a:ext cx="508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8E616B-FE93-B7B9-38E4-7E1CA50C541A}"/>
              </a:ext>
            </a:extLst>
          </p:cNvPr>
          <p:cNvSpPr txBox="1"/>
          <p:nvPr/>
        </p:nvSpPr>
        <p:spPr>
          <a:xfrm>
            <a:off x="4470400" y="30226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1D9E75"/>
                </a:solidFill>
                <a:latin typeface="맑은 고딕" panose="020B0503020000020004" pitchFamily="50" charset="-127"/>
              </a:rPr>
              <a:t>2</a:t>
            </a:r>
            <a:endParaRPr lang="ko-KR" altLang="en-US" sz="16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A32C85-3EB9-5E37-E0ED-D2C7944C9274}"/>
              </a:ext>
            </a:extLst>
          </p:cNvPr>
          <p:cNvSpPr txBox="1"/>
          <p:nvPr/>
        </p:nvSpPr>
        <p:spPr>
          <a:xfrm>
            <a:off x="5156200" y="29972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우리 회사에 맞게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75E64-A667-5617-4D5C-A1FECD580B7C}"/>
              </a:ext>
            </a:extLst>
          </p:cNvPr>
          <p:cNvSpPr txBox="1"/>
          <p:nvPr/>
        </p:nvSpPr>
        <p:spPr>
          <a:xfrm>
            <a:off x="5156200" y="34036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결재선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근무 정책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평가 방식을 담당자가 직접 설정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회사마다 다른 업무 흐름을 그대로 반영합니다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6C6E23-2A61-D78D-E2CB-96203B46C91A}"/>
              </a:ext>
            </a:extLst>
          </p:cNvPr>
          <p:cNvSpPr/>
          <p:nvPr/>
        </p:nvSpPr>
        <p:spPr>
          <a:xfrm>
            <a:off x="4191000" y="4724400"/>
            <a:ext cx="7620000" cy="17145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5384E65-5715-88B1-F6CB-6BA8E6D8552B}"/>
              </a:ext>
            </a:extLst>
          </p:cNvPr>
          <p:cNvSpPr/>
          <p:nvPr/>
        </p:nvSpPr>
        <p:spPr>
          <a:xfrm>
            <a:off x="4470400" y="4953000"/>
            <a:ext cx="508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FCDF3A-8812-8605-2E26-4BB2AAFAFBC0}"/>
              </a:ext>
            </a:extLst>
          </p:cNvPr>
          <p:cNvSpPr txBox="1"/>
          <p:nvPr/>
        </p:nvSpPr>
        <p:spPr>
          <a:xfrm>
            <a:off x="4470400" y="49530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600" b="1">
                <a:solidFill>
                  <a:srgbClr val="1D9E75"/>
                </a:solidFill>
                <a:latin typeface="맑은 고딕" panose="020B0503020000020004" pitchFamily="50" charset="-127"/>
              </a:rPr>
              <a:t>3</a:t>
            </a:r>
            <a:endParaRPr lang="ko-KR" altLang="en-US" sz="16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9BF16-D910-ACFB-9D94-D55F9A913C75}"/>
              </a:ext>
            </a:extLst>
          </p:cNvPr>
          <p:cNvSpPr txBox="1"/>
          <p:nvPr/>
        </p:nvSpPr>
        <p:spPr>
          <a:xfrm>
            <a:off x="5156200" y="49276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맑은 고딕" panose="020B0503020000020004" pitchFamily="50" charset="-127"/>
              </a:rPr>
              <a:t>데이터로 더 나은 인사 결정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3675A0-4038-E0E7-E42B-A9F3214E43B9}"/>
              </a:ext>
            </a:extLst>
          </p:cNvPr>
          <p:cNvSpPr txBox="1"/>
          <p:nvPr/>
        </p:nvSpPr>
        <p:spPr>
          <a:xfrm>
            <a:off x="5156200" y="53340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흩어진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데이터를 하나로 모아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AI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가 분석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제안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직관이 아닌 데이터 기반으로 인사 판단을 내릴 수 있습니다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9AA49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938622-E78A-1F67-C0F9-215E4C758E7F}"/>
              </a:ext>
            </a:extLst>
          </p:cNvPr>
          <p:cNvSpPr txBox="1"/>
          <p:nvPr/>
        </p:nvSpPr>
        <p:spPr>
          <a:xfrm>
            <a:off x="10160000" y="6477000"/>
            <a:ext cx="184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200">
                <a:solidFill>
                  <a:srgbClr val="C8D0CC"/>
                </a:solidFill>
                <a:latin typeface="맑은 고딕" panose="020B0503020000020004" pitchFamily="50" charset="-127"/>
              </a:rPr>
              <a:t>05</a:t>
            </a:r>
            <a:endParaRPr lang="ko-KR" altLang="en-US" sz="1200">
              <a:solidFill>
                <a:srgbClr val="C8D0C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968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C3FE11-D3BC-8ABE-B047-1C4590C436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7AA1FC-396B-2EE7-C4B4-A20BCD307DF4}"/>
              </a:ext>
            </a:extLst>
          </p:cNvPr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66D7A-B818-A5AF-A28F-570C8EE41E8F}"/>
              </a:ext>
            </a:extLst>
          </p:cNvPr>
          <p:cNvSpPr txBox="1"/>
          <p:nvPr/>
        </p:nvSpPr>
        <p:spPr>
          <a:xfrm>
            <a:off x="762000" y="406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1D9E75"/>
                </a:solidFill>
                <a:latin typeface="맑은 고딕" panose="020B0503020000020004" pitchFamily="50" charset="-127"/>
              </a:rPr>
              <a:t>IMPACT</a:t>
            </a:r>
            <a:endParaRPr lang="ko-KR" altLang="en-US" sz="900" b="1">
              <a:solidFill>
                <a:srgbClr val="1D9E75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8D3EC-7515-7FFB-C970-0DA0F432EE91}"/>
              </a:ext>
            </a:extLst>
          </p:cNvPr>
          <p:cNvSpPr txBox="1"/>
          <p:nvPr/>
        </p:nvSpPr>
        <p:spPr>
          <a:xfrm>
            <a:off x="762000" y="660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800" b="1">
                <a:solidFill>
                  <a:srgbClr val="111111"/>
                </a:solidFill>
                <a:latin typeface="맑은 고딕" panose="020B0503020000020004" pitchFamily="50" charset="-127"/>
              </a:rPr>
              <a:t>도입 시 기대 효과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33C8E-BEDC-C819-DC90-E27172B604C2}"/>
              </a:ext>
            </a:extLst>
          </p:cNvPr>
          <p:cNvSpPr txBox="1"/>
          <p:nvPr/>
        </p:nvSpPr>
        <p:spPr>
          <a:xfrm>
            <a:off x="762000" y="11938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solidFill>
                  <a:srgbClr val="9AA49E"/>
                </a:solidFill>
                <a:latin typeface="맑은 고딕" panose="020B0503020000020004" pitchFamily="50" charset="-127"/>
              </a:rPr>
              <a:t>기업과 사회 모두에 긍정적인 변화를 만듭니다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AEFA6B-C3D2-E7C5-087F-A115FD222956}"/>
              </a:ext>
            </a:extLst>
          </p:cNvPr>
          <p:cNvSpPr/>
          <p:nvPr/>
        </p:nvSpPr>
        <p:spPr>
          <a:xfrm>
            <a:off x="762000" y="1600200"/>
            <a:ext cx="5435600" cy="495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022825-B427-4F92-42C6-92A5D8B172F1}"/>
              </a:ext>
            </a:extLst>
          </p:cNvPr>
          <p:cNvSpPr/>
          <p:nvPr/>
        </p:nvSpPr>
        <p:spPr>
          <a:xfrm>
            <a:off x="762000" y="4826000"/>
            <a:ext cx="5435600" cy="254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92DA84-0B7A-F44C-B26A-387780B4CD4D}"/>
              </a:ext>
            </a:extLst>
          </p:cNvPr>
          <p:cNvSpPr/>
          <p:nvPr/>
        </p:nvSpPr>
        <p:spPr>
          <a:xfrm>
            <a:off x="762000" y="1600200"/>
            <a:ext cx="431800" cy="431800"/>
          </a:xfrm>
          <a:prstGeom prst="rect">
            <a:avLst/>
          </a:prstGeom>
          <a:solidFill>
            <a:srgbClr val="E8F7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DD5E2-B540-DCED-6C9C-335B0B62ED73}"/>
              </a:ext>
            </a:extLst>
          </p:cNvPr>
          <p:cNvSpPr txBox="1"/>
          <p:nvPr/>
        </p:nvSpPr>
        <p:spPr>
          <a:xfrm>
            <a:off x="1270000" y="1600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D9E75"/>
                </a:solidFill>
                <a:latin typeface="맑은 고딕" panose="020B0503020000020004" pitchFamily="50" charset="-127"/>
              </a:rPr>
              <a:t>기업 입장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A6AB69-75C1-7D9F-3AE5-D3312C9AEB83}"/>
              </a:ext>
            </a:extLst>
          </p:cNvPr>
          <p:cNvSpPr/>
          <p:nvPr/>
        </p:nvSpPr>
        <p:spPr>
          <a:xfrm>
            <a:off x="762000" y="2159000"/>
            <a:ext cx="5435600" cy="1244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0C39F2-5A4D-B8BC-BB5D-063AD4C3CD7A}"/>
              </a:ext>
            </a:extLst>
          </p:cNvPr>
          <p:cNvSpPr/>
          <p:nvPr/>
        </p:nvSpPr>
        <p:spPr>
          <a:xfrm>
            <a:off x="863600" y="2387600"/>
            <a:ext cx="88900" cy="889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2B16B-4044-DE1A-FEE9-D75394B6774F}"/>
              </a:ext>
            </a:extLst>
          </p:cNvPr>
          <p:cNvSpPr txBox="1"/>
          <p:nvPr/>
        </p:nvSpPr>
        <p:spPr>
          <a:xfrm>
            <a:off x="1066800" y="23114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업무 효율 향상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E41837-9A25-B006-7C35-713B492539BF}"/>
              </a:ext>
            </a:extLst>
          </p:cNvPr>
          <p:cNvSpPr txBox="1"/>
          <p:nvPr/>
        </p:nvSpPr>
        <p:spPr>
          <a:xfrm>
            <a:off x="1066800" y="26416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결재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근태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급여 자동화로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담당자의 반복 업무 감소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23E41C-65FE-0FE9-A6D4-17BE11C4FB2C}"/>
              </a:ext>
            </a:extLst>
          </p:cNvPr>
          <p:cNvSpPr/>
          <p:nvPr/>
        </p:nvSpPr>
        <p:spPr>
          <a:xfrm>
            <a:off x="762000" y="3530600"/>
            <a:ext cx="5435600" cy="1244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CA8C2D2-AD61-0C5D-7E69-E1B6E0E0B1D4}"/>
              </a:ext>
            </a:extLst>
          </p:cNvPr>
          <p:cNvSpPr/>
          <p:nvPr/>
        </p:nvSpPr>
        <p:spPr>
          <a:xfrm>
            <a:off x="863600" y="3759200"/>
            <a:ext cx="88900" cy="889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C59D3B-4279-0EDD-156B-9E1BC3788263}"/>
              </a:ext>
            </a:extLst>
          </p:cNvPr>
          <p:cNvSpPr txBox="1"/>
          <p:nvPr/>
        </p:nvSpPr>
        <p:spPr>
          <a:xfrm>
            <a:off x="1066800" y="36830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데이터 정확성 확보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0BEE8-0393-F871-535C-AF632F56D0EC}"/>
              </a:ext>
            </a:extLst>
          </p:cNvPr>
          <p:cNvSpPr txBox="1"/>
          <p:nvPr/>
        </p:nvSpPr>
        <p:spPr>
          <a:xfrm>
            <a:off x="1066800" y="40132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단일 플랫폼 통합으로 부서 간 데이터 불일치 제거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E735C6-536E-6D51-0A50-4D71AE34A21D}"/>
              </a:ext>
            </a:extLst>
          </p:cNvPr>
          <p:cNvSpPr/>
          <p:nvPr/>
        </p:nvSpPr>
        <p:spPr>
          <a:xfrm>
            <a:off x="762000" y="4902200"/>
            <a:ext cx="5435600" cy="1244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474A23E-3343-362B-69E8-59900895213D}"/>
              </a:ext>
            </a:extLst>
          </p:cNvPr>
          <p:cNvSpPr/>
          <p:nvPr/>
        </p:nvSpPr>
        <p:spPr>
          <a:xfrm>
            <a:off x="863600" y="5130800"/>
            <a:ext cx="88900" cy="88900"/>
          </a:xfrm>
          <a:prstGeom prst="rect">
            <a:avLst/>
          </a:prstGeom>
          <a:solidFill>
            <a:srgbClr val="1D9E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70D54D-657C-F131-A915-78C2B3FDC432}"/>
              </a:ext>
            </a:extLst>
          </p:cNvPr>
          <p:cNvSpPr txBox="1"/>
          <p:nvPr/>
        </p:nvSpPr>
        <p:spPr>
          <a:xfrm>
            <a:off x="1066800" y="50546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비용 절감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0FCB4-F9F6-0151-9F20-656DA2FDA45C}"/>
              </a:ext>
            </a:extLst>
          </p:cNvPr>
          <p:cNvSpPr txBox="1"/>
          <p:nvPr/>
        </p:nvSpPr>
        <p:spPr>
          <a:xfrm>
            <a:off x="1066800" y="53848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구독형 월정액으로 고비용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ERP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대비 도입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운영 비용 대폭 절감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5494C5-3B23-460B-CD0D-B20E484CFAC5}"/>
              </a:ext>
            </a:extLst>
          </p:cNvPr>
          <p:cNvSpPr/>
          <p:nvPr/>
        </p:nvSpPr>
        <p:spPr>
          <a:xfrm>
            <a:off x="6451600" y="1600200"/>
            <a:ext cx="5486400" cy="4953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A0DEA9-9EC6-6DE4-CB05-CDACF9A6F7F6}"/>
              </a:ext>
            </a:extLst>
          </p:cNvPr>
          <p:cNvSpPr/>
          <p:nvPr/>
        </p:nvSpPr>
        <p:spPr>
          <a:xfrm>
            <a:off x="6451600" y="4826000"/>
            <a:ext cx="5486400" cy="254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51CC09-6264-9D69-4E9B-868D819D8D04}"/>
              </a:ext>
            </a:extLst>
          </p:cNvPr>
          <p:cNvSpPr/>
          <p:nvPr/>
        </p:nvSpPr>
        <p:spPr>
          <a:xfrm>
            <a:off x="6451600" y="1600200"/>
            <a:ext cx="431800" cy="431800"/>
          </a:xfrm>
          <a:prstGeom prst="rect">
            <a:avLst/>
          </a:prstGeom>
          <a:solidFill>
            <a:srgbClr val="EFF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ABA290-5A69-D414-6264-33B60D2C14C3}"/>
              </a:ext>
            </a:extLst>
          </p:cNvPr>
          <p:cNvSpPr txBox="1"/>
          <p:nvPr/>
        </p:nvSpPr>
        <p:spPr>
          <a:xfrm>
            <a:off x="6959600" y="1600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3B82F6"/>
                </a:solidFill>
                <a:latin typeface="맑은 고딕" panose="020B0503020000020004" pitchFamily="50" charset="-127"/>
              </a:rPr>
              <a:t>사회적 입장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2C9A41-30A4-4838-C82F-13DFC53532B3}"/>
              </a:ext>
            </a:extLst>
          </p:cNvPr>
          <p:cNvSpPr/>
          <p:nvPr/>
        </p:nvSpPr>
        <p:spPr>
          <a:xfrm>
            <a:off x="6451600" y="2159000"/>
            <a:ext cx="5486400" cy="1244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FF57F1A-9745-1DE8-3B4B-C94DDCE32D88}"/>
              </a:ext>
            </a:extLst>
          </p:cNvPr>
          <p:cNvSpPr/>
          <p:nvPr/>
        </p:nvSpPr>
        <p:spPr>
          <a:xfrm>
            <a:off x="6553200" y="2387600"/>
            <a:ext cx="88900" cy="889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E1B7B7-6F18-3215-9942-74156E2EA93A}"/>
              </a:ext>
            </a:extLst>
          </p:cNvPr>
          <p:cNvSpPr txBox="1"/>
          <p:nvPr/>
        </p:nvSpPr>
        <p:spPr>
          <a:xfrm>
            <a:off x="6756400" y="23114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노동 환경 투명성 향상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42BBF8-66FA-B6FF-7448-B93AFC220228}"/>
              </a:ext>
            </a:extLst>
          </p:cNvPr>
          <p:cNvSpPr txBox="1"/>
          <p:nvPr/>
        </p:nvSpPr>
        <p:spPr>
          <a:xfrm>
            <a:off x="6756400" y="26416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중소기업 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HR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디지털 전환 가속으로 근로 데이터 투명하게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E494B1-49F5-A57F-0910-E90F8B02C581}"/>
              </a:ext>
            </a:extLst>
          </p:cNvPr>
          <p:cNvSpPr/>
          <p:nvPr/>
        </p:nvSpPr>
        <p:spPr>
          <a:xfrm>
            <a:off x="6451600" y="3530600"/>
            <a:ext cx="5486400" cy="1244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0B0E98-3844-1F51-ADBF-7E42DACFF451}"/>
              </a:ext>
            </a:extLst>
          </p:cNvPr>
          <p:cNvSpPr/>
          <p:nvPr/>
        </p:nvSpPr>
        <p:spPr>
          <a:xfrm>
            <a:off x="6553200" y="3759200"/>
            <a:ext cx="88900" cy="889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CF0FE0-4738-5C15-F4FF-D86CFC77C549}"/>
              </a:ext>
            </a:extLst>
          </p:cNvPr>
          <p:cNvSpPr txBox="1"/>
          <p:nvPr/>
        </p:nvSpPr>
        <p:spPr>
          <a:xfrm>
            <a:off x="6756400" y="36830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근로기준법 준수율 향상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2C1D31-9955-E3DF-0595-2A8A927D57F0}"/>
              </a:ext>
            </a:extLst>
          </p:cNvPr>
          <p:cNvSpPr txBox="1"/>
          <p:nvPr/>
        </p:nvSpPr>
        <p:spPr>
          <a:xfrm>
            <a:off x="6756400" y="40132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연차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초과근무 자동 관리로 법적 기준 준수를 시스템이 보장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39A3F1E-FEB0-F028-2AB8-878E737765EE}"/>
              </a:ext>
            </a:extLst>
          </p:cNvPr>
          <p:cNvSpPr/>
          <p:nvPr/>
        </p:nvSpPr>
        <p:spPr>
          <a:xfrm>
            <a:off x="6451600" y="4902200"/>
            <a:ext cx="5486400" cy="1244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69A4344-81DB-8030-5659-C2C48EFF44A2}"/>
              </a:ext>
            </a:extLst>
          </p:cNvPr>
          <p:cNvSpPr/>
          <p:nvPr/>
        </p:nvSpPr>
        <p:spPr>
          <a:xfrm>
            <a:off x="6553200" y="5130800"/>
            <a:ext cx="88900" cy="889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51E5C5-4138-4B79-E761-4850B638231B}"/>
              </a:ext>
            </a:extLst>
          </p:cNvPr>
          <p:cNvSpPr txBox="1"/>
          <p:nvPr/>
        </p:nvSpPr>
        <p:spPr>
          <a:xfrm>
            <a:off x="6756400" y="50546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>
                <a:solidFill>
                  <a:srgbClr val="111111"/>
                </a:solidFill>
                <a:latin typeface="맑은 고딕" panose="020B0503020000020004" pitchFamily="50" charset="-127"/>
              </a:rPr>
              <a:t>공정한 평가 문화 정착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790F5C-8B14-20B8-5897-FB47C21D254E}"/>
              </a:ext>
            </a:extLst>
          </p:cNvPr>
          <p:cNvSpPr txBox="1"/>
          <p:nvPr/>
        </p:nvSpPr>
        <p:spPr>
          <a:xfrm>
            <a:off x="6756400" y="5384800"/>
            <a:ext cx="492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데이터 기반 성과 평가로 주관적 판단 최소화</a:t>
            </a:r>
            <a:r>
              <a:rPr lang="en-US" altLang="ko-KR" sz="1100">
                <a:solidFill>
                  <a:srgbClr val="9AA49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9AA49E"/>
                </a:solidFill>
                <a:latin typeface="맑은 고딕" panose="020B0503020000020004" pitchFamily="50" charset="-127"/>
              </a:rPr>
              <a:t>조직 신뢰 향상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26C252-8155-528A-D97E-3830DD1E9D7D}"/>
              </a:ext>
            </a:extLst>
          </p:cNvPr>
          <p:cNvSpPr txBox="1"/>
          <p:nvPr/>
        </p:nvSpPr>
        <p:spPr>
          <a:xfrm>
            <a:off x="10160000" y="6477000"/>
            <a:ext cx="184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200">
                <a:solidFill>
                  <a:srgbClr val="C8D0CC"/>
                </a:solidFill>
                <a:latin typeface="맑은 고딕" panose="020B0503020000020004" pitchFamily="50" charset="-127"/>
              </a:rPr>
              <a:t>06</a:t>
            </a:r>
            <a:endParaRPr lang="ko-KR" altLang="en-US" sz="1200">
              <a:solidFill>
                <a:srgbClr val="C8D0CC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57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사용자 지정</PresentationFormat>
  <Paragraphs>112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진희 홍</dc:creator>
  <cp:lastModifiedBy>진희 홍</cp:lastModifiedBy>
  <cp:revision>1</cp:revision>
  <dcterms:created xsi:type="dcterms:W3CDTF">2026-05-12T10:42:45Z</dcterms:created>
  <dcterms:modified xsi:type="dcterms:W3CDTF">2026-05-12T10:42:45Z</dcterms:modified>
</cp:coreProperties>
</file>